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10" r:id="rId16"/>
    <p:sldId id="304" r:id="rId17"/>
    <p:sldId id="305" r:id="rId18"/>
    <p:sldId id="306" r:id="rId19"/>
    <p:sldId id="307" r:id="rId20"/>
    <p:sldId id="308" r:id="rId21"/>
    <p:sldId id="309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55B3D2-024E-4726-B32F-7711A1E068E1}" v="542" dt="2026-09-11T08:38:45.20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56147857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TEJAS TYAGI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tejastyagi1107@gmail.com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8178834753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Domain of  Project – </a:t>
            </a:r>
            <a:r>
              <a:rPr lang="en-US" sz="2400"/>
              <a:t>EDUCATION</a:t>
            </a:r>
            <a:endParaRPr lang="en-US" sz="2400">
              <a:highlight>
                <a:srgbClr val="FFFF00"/>
              </a:highlight>
              <a:ea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Project Tile – </a:t>
            </a:r>
            <a:r>
              <a:rPr lang="en-US" sz="2400"/>
              <a:t>ResearchAI – CS/DSA/AI-ML Research Paper Assistant</a:t>
            </a:r>
            <a:endParaRPr lang="en-US" sz="240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1AD3F1-E975-55D8-8997-D0239434B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392" y="3431740"/>
            <a:ext cx="1736615" cy="177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46166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en-US" b="1"/>
              <a:t>Problem Statement : RESEARCH AGENT</a:t>
            </a:r>
            <a:endParaRPr lang="en-US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r>
              <a:rPr lang="en-US"/>
              <a:t>Students struggle to extract clear understanding from dense academic papers and technical documentation on algorithms, data structures, and AI/ML research. Information is scattered across lengthy papers, written in dense jargon, and time-consuming to synthesize manually. Without accessible, beginner-friendly explanations, many learners find it difficult to grasp core contributions, methodologies, and complexity analysis quickly.</a:t>
            </a:r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r>
              <a:rPr lang="en-US"/>
              <a:t>Build an AI-powered Research Agent that helps students and researchers understand computer science literature — specifically algorithms, DSA, and AI/ML papers — using IBM watsonx.ai and Granite models. The solution should: </a:t>
            </a:r>
          </a:p>
          <a:p>
            <a:pPr marL="285750" indent="-285750">
              <a:buChar char="•"/>
            </a:pPr>
            <a:r>
              <a:rPr lang="en-US"/>
              <a:t> Paper Ingestion &amp; RAG Retrieval – Accept uploaded PDFs or pasted text, chunk and embed content into a vector database (FAISS) for fast, accurate retrieval </a:t>
            </a:r>
          </a:p>
          <a:p>
            <a:pPr marL="285750" indent="-285750">
              <a:buChar char="•"/>
            </a:pPr>
            <a:r>
              <a:rPr lang="en-US"/>
              <a:t>Auto-Summarization – Generate structured summaries highlighting core contributions, key algorithms, and complexity analysis </a:t>
            </a:r>
          </a:p>
          <a:p>
            <a:pPr marL="285750" indent="-285750">
              <a:buChar char="•"/>
            </a:pPr>
            <a:r>
              <a:rPr lang="en-US"/>
              <a:t> Concept Explainer – Explain any CS/AI/ML concept in simple, beginner-friendly language with step-by-step breakdowns </a:t>
            </a:r>
          </a:p>
          <a:p>
            <a:pPr marL="285750" indent="-285750">
              <a:buChar char="•"/>
            </a:pPr>
            <a:r>
              <a:rPr lang="en-US"/>
              <a:t> Grounded Q&amp;A Chat – Answer natural language questions about the paper's content, with citations to the exact section the answer </a:t>
            </a:r>
            <a:r>
              <a:rPr lang="en-US" dirty="0"/>
              <a:t>came from </a:t>
            </a:r>
            <a:endParaRPr lang="en-US"/>
          </a:p>
          <a:p>
            <a:pPr marL="285750" indent="-285750">
              <a:buChar char="•"/>
            </a:pPr>
            <a:r>
              <a:rPr lang="en-US"/>
              <a:t> Multi-Agent System </a:t>
            </a:r>
          </a:p>
          <a:p>
            <a:pPr marL="285750" indent="-285750">
              <a:buChar char="•"/>
            </a:pPr>
            <a:r>
              <a:rPr lang="en-US"/>
              <a:t> Retrieval Agent (chunks and indexes paper content)</a:t>
            </a:r>
          </a:p>
          <a:p>
            <a:pPr marL="285750" indent="-285750">
              <a:buChar char="•"/>
            </a:pPr>
            <a:r>
              <a:rPr lang="en-US"/>
              <a:t>  Summarization Agent (generates </a:t>
            </a:r>
            <a:r>
              <a:rPr lang="en-US" dirty="0"/>
              <a:t>structured summaries) </a:t>
            </a:r>
          </a:p>
          <a:p>
            <a:pPr marL="285750" indent="-285750">
              <a:buChar char="•"/>
            </a:pPr>
            <a:r>
              <a:rPr lang="en-US"/>
              <a:t> Concept Explainer Agent (beginner-friendly explanations) </a:t>
            </a:r>
          </a:p>
          <a:p>
            <a:pPr marL="285750" indent="-285750">
              <a:buChar char="•"/>
            </a:pPr>
            <a:r>
              <a:rPr lang="en-US"/>
              <a:t> Q&amp;A Agent </a:t>
            </a:r>
            <a:r>
              <a:rPr lang="en-US" dirty="0"/>
              <a:t>(grounded conversational retrieval with citations)</a:t>
            </a:r>
          </a:p>
          <a:p>
            <a:pPr fontAlgn="base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Proposed Solution -</a:t>
            </a:r>
          </a:p>
          <a:p>
            <a:endParaRPr lang="en-US"/>
          </a:p>
          <a:p>
            <a:pPr marL="285750" indent="-285750">
              <a:buChar char="•"/>
            </a:pPr>
            <a:r>
              <a:rPr lang="en-US"/>
              <a:t>The proposed solution is a multi-agent Research Paper Assistant built using IBM Bob, IBM Granite, and watsonx.ai. The system helps students and researchers quickly understand dense CS/DSA/AI-ML literature through automated summarization, concept explanation, and grounded Q&amp;A.</a:t>
            </a: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/>
              <a:t>At its core, the solution uses a Retrieval-Augmented Generation (RAG) pipeline: uploaded papers are parsed, chunked, and embedded into a FAISS vector database, enabling accurate semantic retrieval of relevant content for any query.</a:t>
            </a: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/>
              <a:t>Paper Ingestion Agent extracts and processes PDF content, chunking it for efficient retrieval and embedding.</a:t>
            </a: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/>
              <a:t>Summarization Agent generates structured summaries covering core contributions, key algorithms, and complexity analysis.</a:t>
            </a: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/>
              <a:t>Concept Explainer Agent breaks down any CS/AI/ML concept into simple, beginner-friendly, step-by-step explanations — independent of any uploaded paper.</a:t>
            </a: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/>
              <a:t>Q&amp;A Agent answers natural language questions grounded in the retrieved paper content, citing the exact section each answer comes from to ensure transparency and trust.</a:t>
            </a: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/>
              <a:t>The solution offers a clean, multi-page web interface (Home, Upload Paper, Chat/Q&amp;A, Summary View, Concept Explainer) built with Flask, allowing users to interact with the agent system in real time, backed by watsonx.ai for language generation.</a:t>
            </a: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/>
              <a:t>Overall, the solution transforms static, hard-to-parse research papers into an interactive learning experience, making advanced CS concepts accessible to students at any level.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3855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/>
              <a:t>Technology Used -</a:t>
            </a:r>
            <a:endParaRPr lang="en-US"/>
          </a:p>
          <a:p>
            <a:endParaRPr lang="en-US"/>
          </a:p>
          <a:p>
            <a:pPr marL="285750" indent="-285750">
              <a:buChar char="•"/>
            </a:pPr>
            <a:r>
              <a:rPr lang="en-US" sz="1600"/>
              <a:t> IBM Bob – For designing, generating, and orchestrating the full-stack Research Agent application (Flask backend + frontend) through natural language prompts</a:t>
            </a:r>
            <a:endParaRPr lang="en-US"/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 sz="1600"/>
              <a:t> IBM watsonx.ai SDK – Used to connect and authenticate the application with IBM's AI infrastructure</a:t>
            </a:r>
            <a:endParaRPr lang="en-US"/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 sz="1600"/>
              <a:t> LLM (meta-llama/llama-3-3-70b-instruct) – For natural language understanding, summarization, concept explanation, and grounded Q&amp;A generation</a:t>
            </a:r>
            <a:endParaRPr lang="en-US"/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 sz="1600"/>
              <a:t> RAG (Retrieval-Augmented Generation) – Ensures responses are grounded in the actual uploaded paper content rather than relying purely on model knowledge, improving accuracy and trustworthiness</a:t>
            </a:r>
            <a:endParaRPr lang="en-US"/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 sz="1600"/>
              <a:t> FAISS Vector Database – For storing and retrieving semantically relevant paper chunks efficiently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E90839-459A-A25D-EE1D-2C7871CF8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74" y="756517"/>
            <a:ext cx="10545251" cy="601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4EC401-8DDA-9478-D9BC-4649E0BAC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74" y="893568"/>
            <a:ext cx="10545251" cy="59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5086FC-4690-F10F-73B5-A27CCA72F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374" y="208317"/>
            <a:ext cx="10545251" cy="639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4F9FA8-6EEE-07A9-0431-206005239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09" y="937424"/>
            <a:ext cx="8984034" cy="534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6166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Role of Agentic AI in the Solution</a:t>
            </a:r>
          </a:p>
          <a:p>
            <a:endParaRPr lang="en-US"/>
          </a:p>
          <a:p>
            <a:r>
              <a:rPr lang="en-US"/>
              <a:t>Agentic AI enables the Research Agent to function as an intelligent, autonomous system rather than a simple chatbot. Using IBM watsonx.ai, it coordinates multiple specialized agents to deliver accurate, grounded research assistance.</a:t>
            </a:r>
          </a:p>
          <a:p>
            <a:endParaRPr lang="en-US"/>
          </a:p>
          <a:p>
            <a:r>
              <a:rPr lang="en-US"/>
              <a:t>Each agent performs a specific role — retrieving and chunking paper content, generating structured summaries, explaining concepts in beginner-friendly language, and answering grounded questions — while working collaboratively. This multi-agent approach ensures efficient task execution and accurate, citation-backed results.</a:t>
            </a:r>
          </a:p>
          <a:p>
            <a:endParaRPr lang="en-US"/>
          </a:p>
          <a:p>
            <a:r>
              <a:rPr lang="en-US"/>
              <a:t>Agentic AI also brings context awareness, understanding the content of the uploaded paper to generate relevant, grounded responses rather than generic answers. It supports real-time interaction, allowing users to ask follow-up questions and receive answers instantly.</a:t>
            </a:r>
          </a:p>
          <a:p>
            <a:endParaRPr lang="en-US"/>
          </a:p>
          <a:p>
            <a:r>
              <a:rPr lang="en-US"/>
              <a:t>Additionally, the RAG pipeline ensures every answer is grounded in the actual paper content, with citations to the exact section — reducing hallucination and improving trust.</a:t>
            </a:r>
          </a:p>
          <a:p>
            <a:endParaRPr lang="en-US"/>
          </a:p>
          <a:p>
            <a:r>
              <a:rPr lang="en-US"/>
              <a:t>Overall, Agentic AI makes the system proactive, accurate, and research-focused, acting like a personal research assistant that helps students and researchers understand dense academic literature quickly and reliably.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156A93-D961-2A9B-F22C-F1B5AD392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07" y="1321164"/>
            <a:ext cx="9636034" cy="520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3C2014-3AAB-6505-BDC5-4F4F0F7F4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51" y="811338"/>
            <a:ext cx="11337354" cy="593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9E714B-855A-C042-57AA-87E5C7F84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76" y="811338"/>
            <a:ext cx="10970435" cy="593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DA308B-50A2-D988-504B-C7CDAF8C8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42" y="714673"/>
            <a:ext cx="11764404" cy="590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2A09-C597-41A1-8796-58C1B45E2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55247"/>
          </a:xfrm>
        </p:spPr>
        <p:txBody>
          <a:bodyPr>
            <a:noAutofit/>
          </a:bodyPr>
          <a:lstStyle/>
          <a:p>
            <a:r>
              <a:rPr lang="en-US" sz="2800" b="1"/>
              <a:t>Project output screenshot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5CF7BA-7271-850D-670E-4E103E39C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25" y="920978"/>
            <a:ext cx="10823038" cy="581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68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/>
              <a:t>The proposed Research Agent stands out by combining Agentic AI, RAG, and beginner-friendly explanation into a single intelligent system.</a:t>
            </a:r>
            <a:endParaRPr lang="en-IN" sz="1600" dirty="0"/>
          </a:p>
          <a:p>
            <a:endParaRPr lang="en-IN" sz="1600" dirty="0"/>
          </a:p>
          <a:p>
            <a:r>
              <a:rPr lang="en-IN" sz="1600"/>
              <a:t>Multi-Agent Intelligence – Instead of a single chatbot, specialized agents collaborate to deliver accurate, grounded, and well-structured research assistance.</a:t>
            </a:r>
            <a:endParaRPr lang="en-IN" sz="1600" dirty="0"/>
          </a:p>
          <a:p>
            <a:endParaRPr lang="en-IN" sz="1600" dirty="0"/>
          </a:p>
          <a:p>
            <a:r>
              <a:rPr lang="en-IN" sz="1600"/>
              <a:t>RAG-Based Accuracy – Integrates retrieval from the actual uploaded paper with AI generation, reducing hallucination and grounding every answer in citable content.</a:t>
            </a:r>
            <a:endParaRPr lang="en-IN" sz="1600" dirty="0"/>
          </a:p>
          <a:p>
            <a:endParaRPr lang="en-IN" sz="1600" dirty="0"/>
          </a:p>
          <a:p>
            <a:r>
              <a:rPr lang="en-IN" sz="1600"/>
              <a:t>Concept-Level Explainability – Goes beyond summarization to explain any CS/AI/ML concept in simple, beginner-friendly, step-by-step language — independent of any specific paper.</a:t>
            </a:r>
            <a:endParaRPr lang="en-IN" sz="1600" dirty="0"/>
          </a:p>
          <a:p>
            <a:endParaRPr lang="en-IN" sz="1600" dirty="0"/>
          </a:p>
          <a:p>
            <a:r>
              <a:rPr lang="en-IN" sz="1600"/>
              <a:t>Citation-Grounded Q&amp;A – Every answer references the exact section of the paper it came from, ensuring transparency and trust.</a:t>
            </a:r>
            <a:endParaRPr lang="en-IN" sz="1600" dirty="0"/>
          </a:p>
          <a:p>
            <a:endParaRPr lang="en-IN" sz="1600" dirty="0"/>
          </a:p>
          <a:p>
            <a:r>
              <a:rPr lang="en-IN" sz="1600"/>
              <a:t>Dual-Domain Coverage – Supports both algorithms/DSA literature and AI/ML research papers, making it useful across core computer science topics.</a:t>
            </a:r>
            <a:endParaRPr lang="en-IN" sz="1600" dirty="0"/>
          </a:p>
          <a:p>
            <a:endParaRPr lang="en-IN" sz="1600" dirty="0"/>
          </a:p>
          <a:p>
            <a:r>
              <a:rPr lang="en-IN" sz="1600"/>
              <a:t>Scalable &amp; Deployment-Ready – Built with IBM watsonx.ai, containerized with a clean Flask architecture, ready for deployment on IBM Cloud or other platforms.</a:t>
            </a:r>
            <a:endParaRPr lang="en-IN" sz="1600" dirty="0"/>
          </a:p>
          <a:p>
            <a:endParaRPr lang="en-IN" sz="1600" dirty="0"/>
          </a:p>
          <a:p>
            <a:r>
              <a:rPr lang="en-IN" sz="1600"/>
              <a:t>This makes the solution a smart, adaptive research companion, not just a static summarization tool.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github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Github URL –</a:t>
            </a:r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https://github.com/tejastyagi1107-cpu/research-agent</a:t>
            </a:r>
            <a:endParaRPr lang="en-US" sz="1850">
              <a:solidFill>
                <a:srgbClr val="2B3541"/>
              </a:solidFill>
              <a:ea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github repository  </a:t>
            </a:r>
            <a:br>
              <a:rPr lang="en-US" sz="1850" dirty="0">
                <a:latin typeface="Times New Roman"/>
                <a:ea typeface="Times New Roman"/>
                <a:cs typeface="Times New Roman"/>
              </a:rPr>
            </a:b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850" i="0" u="none" strike="noStrike" cap="none">
                <a:solidFill>
                  <a:srgbClr val="2B3541"/>
                </a:solidFill>
                <a:ea typeface="Times New Roman"/>
                <a:sym typeface="Times New Roman"/>
              </a:rPr>
              <a:t>1.</a:t>
            </a:r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 Multi-Source Literature Search </a:t>
            </a:r>
            <a:r>
              <a:rPr lang="en-US" sz="1850" i="0" u="none" strike="noStrike" cap="none">
                <a:solidFill>
                  <a:srgbClr val="2B3541"/>
                </a:solidFill>
                <a:ea typeface="Times New Roman"/>
                <a:sym typeface="Times New Roman"/>
              </a:rPr>
              <a:t>–</a:t>
            </a:r>
            <a:endParaRPr lang="en-US"/>
          </a:p>
          <a:p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Extend the </a:t>
            </a:r>
            <a:r>
              <a:rPr lang="en-US" sz="1850" b="0" i="0" u="none" strike="noStrike" cap="none">
                <a:solidFill>
                  <a:srgbClr val="2B3541"/>
                </a:solidFill>
                <a:ea typeface="Times New Roman"/>
                <a:sym typeface="Times New Roman"/>
              </a:rPr>
              <a:t>system to </a:t>
            </a:r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search and pull papers directly from arXiv or Google Scholar</a:t>
            </a:r>
            <a:r>
              <a:rPr lang="en-US" sz="1850" b="0" i="0" u="none" strike="noStrike" cap="none">
                <a:solidFill>
                  <a:srgbClr val="2B3541"/>
                </a:solidFill>
                <a:ea typeface="Times New Roman"/>
                <a:sym typeface="Times New Roman"/>
              </a:rPr>
              <a:t>, </a:t>
            </a:r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instead of requiring manual upload.</a:t>
            </a:r>
            <a:endParaRPr lang="en-US"/>
          </a:p>
          <a:p>
            <a:endParaRPr lang="en-US"/>
          </a:p>
          <a:p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2. Cross-Paper Comparison –</a:t>
            </a:r>
            <a:endParaRPr lang="en-US"/>
          </a:p>
          <a:p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Compare multiple papers side-by-side </a:t>
            </a:r>
            <a:r>
              <a:rPr lang="en-US" sz="1850" b="0" i="0" u="none" strike="noStrike" cap="none">
                <a:solidFill>
                  <a:srgbClr val="2B3541"/>
                </a:solidFill>
                <a:ea typeface="Times New Roman"/>
                <a:sym typeface="Times New Roman"/>
              </a:rPr>
              <a:t>and </a:t>
            </a:r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generate citation graphs </a:t>
            </a:r>
            <a:r>
              <a:rPr lang="en-US" sz="1850" b="0" i="0" u="none" strike="noStrike" cap="none">
                <a:solidFill>
                  <a:srgbClr val="2B3541"/>
                </a:solidFill>
                <a:ea typeface="Times New Roman"/>
                <a:sym typeface="Times New Roman"/>
              </a:rPr>
              <a:t>to </a:t>
            </a:r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help researchers understand connections between papers faster</a:t>
            </a:r>
            <a:r>
              <a:rPr lang="en-US" sz="1850" b="0" i="0" u="none" strike="noStrike" cap="none">
                <a:solidFill>
                  <a:srgbClr val="2B3541"/>
                </a:solidFill>
                <a:ea typeface="Times New Roman"/>
                <a:sym typeface="Times New Roman"/>
              </a:rPr>
              <a:t>.</a:t>
            </a:r>
            <a:endParaRPr lang="en-US"/>
          </a:p>
          <a:p>
            <a:endParaRPr lang="en-US"/>
          </a:p>
          <a:p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3.</a:t>
            </a:r>
            <a:r>
              <a:rPr lang="en-US" sz="1850" i="0" u="none" strike="noStrike" cap="none">
                <a:solidFill>
                  <a:srgbClr val="2B3541"/>
                </a:solidFill>
                <a:ea typeface="Times New Roman"/>
                <a:sym typeface="Times New Roman"/>
              </a:rPr>
              <a:t> Voice </a:t>
            </a:r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Input </a:t>
            </a:r>
            <a:r>
              <a:rPr lang="en-US" sz="1850" i="0" u="none" strike="noStrike" cap="none">
                <a:solidFill>
                  <a:srgbClr val="2B3541"/>
                </a:solidFill>
                <a:ea typeface="Times New Roman"/>
                <a:sym typeface="Times New Roman"/>
              </a:rPr>
              <a:t>&amp; Multilingual Support </a:t>
            </a:r>
            <a:r>
              <a:rPr lang="en-US" sz="1850" b="0" i="0" u="none" strike="noStrike" cap="none">
                <a:solidFill>
                  <a:srgbClr val="2B3541"/>
                </a:solidFill>
                <a:ea typeface="Times New Roman"/>
                <a:sym typeface="Times New Roman"/>
              </a:rPr>
              <a:t>–</a:t>
            </a:r>
            <a:endParaRPr lang="en-US"/>
          </a:p>
          <a:p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Add voice interaction </a:t>
            </a:r>
            <a:r>
              <a:rPr lang="en-US" sz="1850" b="0" i="0" u="none" strike="noStrike" cap="none">
                <a:solidFill>
                  <a:srgbClr val="2B3541"/>
                </a:solidFill>
                <a:ea typeface="Times New Roman"/>
                <a:sym typeface="Times New Roman"/>
              </a:rPr>
              <a:t>and </a:t>
            </a:r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multi-language </a:t>
            </a:r>
            <a:r>
              <a:rPr lang="en-US" sz="1850" b="0" i="0" u="none" strike="noStrike" cap="none">
                <a:solidFill>
                  <a:srgbClr val="2B3541"/>
                </a:solidFill>
                <a:ea typeface="Times New Roman"/>
                <a:sym typeface="Times New Roman"/>
              </a:rPr>
              <a:t>support </a:t>
            </a:r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to make </a:t>
            </a:r>
            <a:r>
              <a:rPr lang="en-US" sz="1850" b="0" i="0" u="none" strike="noStrike" cap="none">
                <a:solidFill>
                  <a:srgbClr val="2B3541"/>
                </a:solidFill>
                <a:ea typeface="Times New Roman"/>
                <a:sym typeface="Times New Roman"/>
              </a:rPr>
              <a:t>the </a:t>
            </a:r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tool accessible to a wider range of students.</a:t>
            </a:r>
            <a:endParaRPr lang="en-US"/>
          </a:p>
          <a:p>
            <a:endParaRPr lang="en-US"/>
          </a:p>
          <a:p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4. Personalized Learning Paths –Track concepts a user has explored </a:t>
            </a:r>
            <a:r>
              <a:rPr lang="en-US" sz="1850" b="0" i="0" u="none" strike="noStrike" cap="none">
                <a:solidFill>
                  <a:srgbClr val="2B3541"/>
                </a:solidFill>
                <a:ea typeface="Times New Roman"/>
                <a:sym typeface="Times New Roman"/>
              </a:rPr>
              <a:t>and </a:t>
            </a:r>
            <a:r>
              <a:rPr lang="en-US" sz="1850">
                <a:solidFill>
                  <a:srgbClr val="2B3541"/>
                </a:solidFill>
                <a:ea typeface="Times New Roman"/>
                <a:sym typeface="Times New Roman"/>
              </a:rPr>
              <a:t>recommend related papers to build a structured learning journey</a:t>
            </a:r>
            <a:r>
              <a:rPr lang="en-US" sz="1850" b="0" i="0" u="none" strike="noStrike" cap="none">
                <a:solidFill>
                  <a:srgbClr val="2B3541"/>
                </a:solidFill>
                <a:ea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7B5883-0B7F-E21A-3CA8-95DFA6972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821" y="1238935"/>
            <a:ext cx="8053667" cy="561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682429-2FDE-C0AB-A9F5-6099C83E3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41" y="701697"/>
            <a:ext cx="11262010" cy="595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1413</Words>
  <Application>Microsoft Office PowerPoint</Application>
  <PresentationFormat>Widescreen</PresentationFormat>
  <Paragraphs>123</Paragraphs>
  <Slides>21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output screenshot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Aswini Kumar Motapothula</cp:lastModifiedBy>
  <cp:revision>141</cp:revision>
  <dcterms:created xsi:type="dcterms:W3CDTF">2025-07-08T05:06:56Z</dcterms:created>
  <dcterms:modified xsi:type="dcterms:W3CDTF">2026-09-11T09:10:13Z</dcterms:modified>
</cp:coreProperties>
</file>